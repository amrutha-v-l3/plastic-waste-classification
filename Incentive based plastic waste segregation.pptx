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47" d="100"/>
          <a:sy n="47" d="100"/>
        </p:scale>
        <p:origin x="1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429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198541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6779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72287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808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79893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458684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787670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622078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587717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11/23/2024</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222761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11/23/2024</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29294721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blue abstract watercolor pattern on a white background">
            <a:extLst>
              <a:ext uri="{FF2B5EF4-FFF2-40B4-BE49-F238E27FC236}">
                <a16:creationId xmlns:a16="http://schemas.microsoft.com/office/drawing/2014/main" id="{B79684E0-E043-098B-F89A-1E07364E3AB2}"/>
              </a:ext>
            </a:extLst>
          </p:cNvPr>
          <p:cNvPicPr>
            <a:picLocks noChangeAspect="1"/>
          </p:cNvPicPr>
          <p:nvPr/>
        </p:nvPicPr>
        <p:blipFill>
          <a:blip r:embed="rId2">
            <a:alphaModFix/>
          </a:blip>
          <a:srcRect t="14654" b="1096"/>
          <a:stretch/>
        </p:blipFill>
        <p:spPr>
          <a:xfrm>
            <a:off x="20" y="1571"/>
            <a:ext cx="12191980" cy="6856429"/>
          </a:xfrm>
          <a:prstGeom prst="rect">
            <a:avLst/>
          </a:prstGeom>
        </p:spPr>
      </p:pic>
      <p:sp>
        <p:nvSpPr>
          <p:cNvPr id="19" name="Freeform: Shape 18">
            <a:extLst>
              <a:ext uri="{FF2B5EF4-FFF2-40B4-BE49-F238E27FC236}">
                <a16:creationId xmlns:a16="http://schemas.microsoft.com/office/drawing/2014/main" id="{3F0586C3-A19F-D214-ABDE-30AD5B666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17342"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gradFill>
            <a:gsLst>
              <a:gs pos="0">
                <a:schemeClr val="accent1">
                  <a:lumMod val="60000"/>
                  <a:lumOff val="40000"/>
                  <a:alpha val="20000"/>
                </a:schemeClr>
              </a:gs>
              <a:gs pos="7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035298C-3FD7-A8A8-28D6-D3C6716C4DC2}"/>
              </a:ext>
            </a:extLst>
          </p:cNvPr>
          <p:cNvSpPr>
            <a:spLocks noGrp="1"/>
          </p:cNvSpPr>
          <p:nvPr>
            <p:ph type="ctrTitle"/>
          </p:nvPr>
        </p:nvSpPr>
        <p:spPr>
          <a:xfrm>
            <a:off x="4328161" y="2211978"/>
            <a:ext cx="3535679" cy="1425728"/>
          </a:xfrm>
        </p:spPr>
        <p:txBody>
          <a:bodyPr anchor="b">
            <a:normAutofit fontScale="90000"/>
          </a:bodyPr>
          <a:lstStyle/>
          <a:p>
            <a:pPr algn="ctr"/>
            <a:r>
              <a:rPr lang="en-GB" dirty="0"/>
              <a:t>Incentive based </a:t>
            </a:r>
            <a:r>
              <a:rPr lang="en-GB" dirty="0" err="1"/>
              <a:t>PlasTIc</a:t>
            </a:r>
            <a:r>
              <a:rPr lang="en-GB" dirty="0"/>
              <a:t> Waste segregation</a:t>
            </a:r>
          </a:p>
        </p:txBody>
      </p:sp>
      <p:sp>
        <p:nvSpPr>
          <p:cNvPr id="3" name="Subtitle 2">
            <a:extLst>
              <a:ext uri="{FF2B5EF4-FFF2-40B4-BE49-F238E27FC236}">
                <a16:creationId xmlns:a16="http://schemas.microsoft.com/office/drawing/2014/main" id="{CA7C70D9-B8A6-1134-FFA1-B6D15925F0E7}"/>
              </a:ext>
            </a:extLst>
          </p:cNvPr>
          <p:cNvSpPr>
            <a:spLocks noGrp="1"/>
          </p:cNvSpPr>
          <p:nvPr>
            <p:ph type="subTitle" idx="1"/>
          </p:nvPr>
        </p:nvSpPr>
        <p:spPr>
          <a:xfrm>
            <a:off x="4572000" y="4249360"/>
            <a:ext cx="3048000" cy="877585"/>
          </a:xfrm>
        </p:spPr>
        <p:txBody>
          <a:bodyPr>
            <a:normAutofit/>
          </a:bodyPr>
          <a:lstStyle/>
          <a:p>
            <a:pPr algn="ctr"/>
            <a:r>
              <a:rPr lang="en-GB" dirty="0"/>
              <a:t>Project by,</a:t>
            </a:r>
          </a:p>
          <a:p>
            <a:pPr algn="ctr"/>
            <a:r>
              <a:rPr lang="en-GB" dirty="0"/>
              <a:t>Atul Ajani</a:t>
            </a:r>
          </a:p>
        </p:txBody>
      </p:sp>
      <p:cxnSp>
        <p:nvCxnSpPr>
          <p:cNvPr id="20" name="Straight Connector 19">
            <a:extLst>
              <a:ext uri="{FF2B5EF4-FFF2-40B4-BE49-F238E27FC236}">
                <a16:creationId xmlns:a16="http://schemas.microsoft.com/office/drawing/2014/main" id="{414C5C93-B9E9-4392-ADCF-ABF21209DD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3" y="395468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349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DAD064D-86F0-42ED-B520-996898579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744C44-EF39-640E-39F8-289AA79C22FE}"/>
              </a:ext>
            </a:extLst>
          </p:cNvPr>
          <p:cNvSpPr>
            <a:spLocks noGrp="1"/>
          </p:cNvSpPr>
          <p:nvPr>
            <p:ph type="title"/>
          </p:nvPr>
        </p:nvSpPr>
        <p:spPr>
          <a:xfrm>
            <a:off x="7029450" y="762001"/>
            <a:ext cx="4229100" cy="1141004"/>
          </a:xfrm>
        </p:spPr>
        <p:txBody>
          <a:bodyPr>
            <a:normAutofit/>
          </a:bodyPr>
          <a:lstStyle/>
          <a:p>
            <a:r>
              <a:rPr lang="en-GB" dirty="0"/>
              <a:t>Introduction</a:t>
            </a:r>
          </a:p>
        </p:txBody>
      </p:sp>
      <p:pic>
        <p:nvPicPr>
          <p:cNvPr id="5" name="Picture 4" descr="Throwing empty plastic bottle into the trash">
            <a:extLst>
              <a:ext uri="{FF2B5EF4-FFF2-40B4-BE49-F238E27FC236}">
                <a16:creationId xmlns:a16="http://schemas.microsoft.com/office/drawing/2014/main" id="{E98C98F0-94D1-A319-4009-FC043439E437}"/>
              </a:ext>
            </a:extLst>
          </p:cNvPr>
          <p:cNvPicPr>
            <a:picLocks noChangeAspect="1"/>
          </p:cNvPicPr>
          <p:nvPr/>
        </p:nvPicPr>
        <p:blipFill>
          <a:blip r:embed="rId2"/>
          <a:srcRect l="15428" r="25238" b="-1"/>
          <a:stretch/>
        </p:blipFill>
        <p:spPr>
          <a:xfrm>
            <a:off x="-1" y="10"/>
            <a:ext cx="6096001" cy="6857990"/>
          </a:xfrm>
          <a:prstGeom prst="rect">
            <a:avLst/>
          </a:prstGeom>
        </p:spPr>
      </p:pic>
      <p:sp>
        <p:nvSpPr>
          <p:cNvPr id="11" name="Rectangle 10">
            <a:extLst>
              <a:ext uri="{FF2B5EF4-FFF2-40B4-BE49-F238E27FC236}">
                <a16:creationId xmlns:a16="http://schemas.microsoft.com/office/drawing/2014/main" id="{AE56140E-8EE1-BE31-745D-450AF05FB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174117"/>
            <a:ext cx="6095999" cy="3689633"/>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EEB4B0A-165F-EC27-EC14-52FF0DE5ED45}"/>
              </a:ext>
            </a:extLst>
          </p:cNvPr>
          <p:cNvSpPr>
            <a:spLocks noGrp="1"/>
          </p:cNvSpPr>
          <p:nvPr>
            <p:ph idx="1"/>
          </p:nvPr>
        </p:nvSpPr>
        <p:spPr>
          <a:xfrm>
            <a:off x="6825344" y="2286000"/>
            <a:ext cx="4423256" cy="4229100"/>
          </a:xfrm>
        </p:spPr>
        <p:txBody>
          <a:bodyPr>
            <a:normAutofit/>
          </a:bodyPr>
          <a:lstStyle/>
          <a:p>
            <a:r>
              <a:rPr lang="en-GB" dirty="0"/>
              <a:t>Plastic waste accumulation is an ever-increasing threat to life on earth. The negative effects of excess plastic wastes have become prominent in the recent years, and hence the need for proper disposal of plastic have become a necessity.</a:t>
            </a:r>
          </a:p>
          <a:p>
            <a:r>
              <a:rPr lang="en-GB" b="1" dirty="0"/>
              <a:t>Problem Statement:</a:t>
            </a:r>
          </a:p>
          <a:p>
            <a:pPr marL="0" indent="0">
              <a:buNone/>
            </a:pPr>
            <a:r>
              <a:rPr lang="en-GB" dirty="0"/>
              <a:t>Improper disposal of large amounts of plastic wastes requires the need to be tackled using innovative solutions.</a:t>
            </a:r>
          </a:p>
          <a:p>
            <a:endParaRPr lang="en-GB" dirty="0"/>
          </a:p>
        </p:txBody>
      </p:sp>
      <p:sp>
        <p:nvSpPr>
          <p:cNvPr id="13" name="TextBox 12">
            <a:extLst>
              <a:ext uri="{FF2B5EF4-FFF2-40B4-BE49-F238E27FC236}">
                <a16:creationId xmlns:a16="http://schemas.microsoft.com/office/drawing/2014/main" id="{73F74279-E694-CEB1-ED9A-ADBEBAEB7B7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000" y="3245771"/>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490304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28221-9E50-363B-C8BE-738C435C312E}"/>
              </a:ext>
            </a:extLst>
          </p:cNvPr>
          <p:cNvSpPr>
            <a:spLocks noGrp="1"/>
          </p:cNvSpPr>
          <p:nvPr>
            <p:ph type="title"/>
          </p:nvPr>
        </p:nvSpPr>
        <p:spPr/>
        <p:txBody>
          <a:bodyPr/>
          <a:lstStyle/>
          <a:p>
            <a:r>
              <a:rPr lang="en-GB" dirty="0"/>
              <a:t>solution</a:t>
            </a:r>
          </a:p>
        </p:txBody>
      </p:sp>
      <p:sp>
        <p:nvSpPr>
          <p:cNvPr id="3" name="Content Placeholder 2">
            <a:extLst>
              <a:ext uri="{FF2B5EF4-FFF2-40B4-BE49-F238E27FC236}">
                <a16:creationId xmlns:a16="http://schemas.microsoft.com/office/drawing/2014/main" id="{24D848FF-401B-EB97-FC5E-954FE8B238D1}"/>
              </a:ext>
            </a:extLst>
          </p:cNvPr>
          <p:cNvSpPr>
            <a:spLocks noGrp="1"/>
          </p:cNvSpPr>
          <p:nvPr>
            <p:ph idx="1"/>
          </p:nvPr>
        </p:nvSpPr>
        <p:spPr/>
        <p:txBody>
          <a:bodyPr/>
          <a:lstStyle/>
          <a:p>
            <a:r>
              <a:rPr lang="en-GB" dirty="0"/>
              <a:t>An efficient way to tackle improper disposal of plastic wastes is by proper and efficient segregation of plastic wastes at the source and encouraging people/users to dispose the plastic wastes properly. \</a:t>
            </a:r>
          </a:p>
          <a:p>
            <a:r>
              <a:rPr lang="en-GB" dirty="0"/>
              <a:t>Researches show that an incentive-based approach to plastic waste disposal encourages the users to properly dispose off plastic wastes.</a:t>
            </a:r>
          </a:p>
          <a:p>
            <a:r>
              <a:rPr lang="en-GB" b="1" dirty="0"/>
              <a:t>Project Aim</a:t>
            </a:r>
          </a:p>
          <a:p>
            <a:pPr marL="0" indent="0">
              <a:buNone/>
            </a:pPr>
            <a:r>
              <a:rPr lang="en-GB" dirty="0"/>
              <a:t>Hence this project aims at developing an ML model which identifies the different grades of plastic wastes and displays the recycling cost set by the recycling units. A percentage of these recycling costs can be given to the people who dispose these plastic wastes thus encouraging them for more efficient disposal.</a:t>
            </a:r>
          </a:p>
          <a:p>
            <a:pPr marL="0" indent="0">
              <a:buNone/>
            </a:pPr>
            <a:endParaRPr lang="en-GB" dirty="0"/>
          </a:p>
        </p:txBody>
      </p:sp>
    </p:spTree>
    <p:extLst>
      <p:ext uri="{BB962C8B-B14F-4D97-AF65-F5344CB8AC3E}">
        <p14:creationId xmlns:p14="http://schemas.microsoft.com/office/powerpoint/2010/main" val="4116027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1C74AEE6-9CA7-5247-DC34-99634247DF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736ACF6A-FC06-4E10-819E-2E7BC6978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9" cy="6858000"/>
          </a:xfrm>
          <a:prstGeom prst="rect">
            <a:avLst/>
          </a:prstGeom>
          <a:gradFill>
            <a:gsLst>
              <a:gs pos="20000">
                <a:schemeClr val="accent1">
                  <a:lumMod val="60000"/>
                  <a:lumOff val="40000"/>
                  <a:alpha val="0"/>
                </a:schemeClr>
              </a:gs>
              <a:gs pos="90000">
                <a:schemeClr val="accent1">
                  <a:lumMod val="60000"/>
                  <a:lumOff val="4000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778AB34B-DF7D-CE16-AB75-10642A817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341" y="1247985"/>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87BE9D2-CD89-A0B6-3CAD-9102EE7A9B44}"/>
              </a:ext>
            </a:extLst>
          </p:cNvPr>
          <p:cNvSpPr>
            <a:spLocks noGrp="1"/>
          </p:cNvSpPr>
          <p:nvPr>
            <p:ph type="title"/>
          </p:nvPr>
        </p:nvSpPr>
        <p:spPr>
          <a:xfrm>
            <a:off x="1079862" y="2285999"/>
            <a:ext cx="3936275" cy="1376939"/>
          </a:xfrm>
        </p:spPr>
        <p:txBody>
          <a:bodyPr vert="horz" lIns="91440" tIns="45720" rIns="91440" bIns="45720" rtlCol="0" anchor="b">
            <a:normAutofit/>
          </a:bodyPr>
          <a:lstStyle/>
          <a:p>
            <a:pPr algn="ctr"/>
            <a:r>
              <a:rPr lang="en-US"/>
              <a:t>Resin code classification</a:t>
            </a:r>
          </a:p>
        </p:txBody>
      </p:sp>
      <p:pic>
        <p:nvPicPr>
          <p:cNvPr id="5" name="Content Placeholder 4" descr="A chart of different types of plastic&#10;&#10;Description automatically generated">
            <a:extLst>
              <a:ext uri="{FF2B5EF4-FFF2-40B4-BE49-F238E27FC236}">
                <a16:creationId xmlns:a16="http://schemas.microsoft.com/office/drawing/2014/main" id="{70C10E37-BA2B-DD06-0E8F-C478E3206D8E}"/>
              </a:ext>
            </a:extLst>
          </p:cNvPr>
          <p:cNvPicPr>
            <a:picLocks noChangeAspect="1"/>
          </p:cNvPicPr>
          <p:nvPr/>
        </p:nvPicPr>
        <p:blipFill>
          <a:blip r:embed="rId2">
            <a:alphaModFix/>
            <a:extLst>
              <a:ext uri="{28A0092B-C50C-407E-A947-70E740481C1C}">
                <a14:useLocalDpi xmlns:a14="http://schemas.microsoft.com/office/drawing/2010/main" val="0"/>
              </a:ext>
            </a:extLst>
          </a:blip>
          <a:srcRect t="10000"/>
          <a:stretch/>
        </p:blipFill>
        <p:spPr>
          <a:xfrm>
            <a:off x="6096000" y="-2357"/>
            <a:ext cx="6096000" cy="6858000"/>
          </a:xfrm>
          <a:prstGeom prst="rect">
            <a:avLst/>
          </a:prstGeom>
        </p:spPr>
      </p:pic>
      <p:cxnSp>
        <p:nvCxnSpPr>
          <p:cNvPr id="31" name="Straight Connector 30">
            <a:extLst>
              <a:ext uri="{FF2B5EF4-FFF2-40B4-BE49-F238E27FC236}">
                <a16:creationId xmlns:a16="http://schemas.microsoft.com/office/drawing/2014/main" id="{5B406242-D8AF-ECAE-058A-D2702DB895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62423" y="395142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11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0EA8B-EB75-E6D2-4800-49EAAF10ADDD}"/>
              </a:ext>
            </a:extLst>
          </p:cNvPr>
          <p:cNvSpPr>
            <a:spLocks noGrp="1"/>
          </p:cNvSpPr>
          <p:nvPr>
            <p:ph type="title"/>
          </p:nvPr>
        </p:nvSpPr>
        <p:spPr/>
        <p:txBody>
          <a:bodyPr/>
          <a:lstStyle/>
          <a:p>
            <a:r>
              <a:rPr lang="en-GB"/>
              <a:t>Machine learning model using CNN</a:t>
            </a:r>
            <a:endParaRPr lang="en-GB" dirty="0"/>
          </a:p>
        </p:txBody>
      </p:sp>
      <p:sp>
        <p:nvSpPr>
          <p:cNvPr id="3" name="Content Placeholder 2">
            <a:extLst>
              <a:ext uri="{FF2B5EF4-FFF2-40B4-BE49-F238E27FC236}">
                <a16:creationId xmlns:a16="http://schemas.microsoft.com/office/drawing/2014/main" id="{F16D8B41-F51E-0619-B4D0-0B5306E4FB82}"/>
              </a:ext>
            </a:extLst>
          </p:cNvPr>
          <p:cNvSpPr>
            <a:spLocks noGrp="1"/>
          </p:cNvSpPr>
          <p:nvPr>
            <p:ph idx="1"/>
          </p:nvPr>
        </p:nvSpPr>
        <p:spPr/>
        <p:txBody>
          <a:bodyPr/>
          <a:lstStyle/>
          <a:p>
            <a:r>
              <a:rPr lang="en-GB" dirty="0"/>
              <a:t>Convolutional Neural Network algorithm has been used to develop a model to identify the resin codes and return the price of recycling.</a:t>
            </a:r>
          </a:p>
          <a:p>
            <a:r>
              <a:rPr lang="en-GB" dirty="0"/>
              <a:t>Steps:</a:t>
            </a:r>
          </a:p>
          <a:p>
            <a:pPr marL="342900" indent="-342900">
              <a:buAutoNum type="arabicPeriod"/>
            </a:pPr>
            <a:r>
              <a:rPr lang="en-GB" dirty="0"/>
              <a:t>Using </a:t>
            </a:r>
            <a:r>
              <a:rPr lang="en-GB" dirty="0" err="1"/>
              <a:t>mnist</a:t>
            </a:r>
            <a:r>
              <a:rPr lang="en-GB" dirty="0"/>
              <a:t> model to identify the numbers</a:t>
            </a:r>
          </a:p>
          <a:p>
            <a:pPr marL="342900" indent="-342900">
              <a:buAutoNum type="arabicPeriod" startAt="2"/>
            </a:pPr>
            <a:r>
              <a:rPr lang="en-GB" dirty="0"/>
              <a:t>Developed a model which classifies the different grades of plastic</a:t>
            </a:r>
          </a:p>
          <a:p>
            <a:pPr marL="342900" indent="-342900">
              <a:buAutoNum type="arabicPeriod" startAt="2"/>
            </a:pPr>
            <a:r>
              <a:rPr lang="en-GB" dirty="0"/>
              <a:t> Real-time analysis of prediction of the different grades of plastic has been done.</a:t>
            </a:r>
          </a:p>
        </p:txBody>
      </p:sp>
    </p:spTree>
    <p:extLst>
      <p:ext uri="{BB962C8B-B14F-4D97-AF65-F5344CB8AC3E}">
        <p14:creationId xmlns:p14="http://schemas.microsoft.com/office/powerpoint/2010/main" val="1697810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0DC04-B85F-8268-AD82-FA0BD07731B7}"/>
              </a:ext>
            </a:extLst>
          </p:cNvPr>
          <p:cNvSpPr>
            <a:spLocks noGrp="1"/>
          </p:cNvSpPr>
          <p:nvPr>
            <p:ph type="title"/>
          </p:nvPr>
        </p:nvSpPr>
        <p:spPr/>
        <p:txBody>
          <a:bodyPr/>
          <a:lstStyle/>
          <a:p>
            <a:r>
              <a:rPr lang="en-GB" dirty="0"/>
              <a:t>MNIST Model</a:t>
            </a:r>
          </a:p>
        </p:txBody>
      </p:sp>
      <p:pic>
        <p:nvPicPr>
          <p:cNvPr id="5" name="Content Placeholder 4">
            <a:extLst>
              <a:ext uri="{FF2B5EF4-FFF2-40B4-BE49-F238E27FC236}">
                <a16:creationId xmlns:a16="http://schemas.microsoft.com/office/drawing/2014/main" id="{E509B10E-9037-2872-C658-C86AA6B446BF}"/>
              </a:ext>
            </a:extLst>
          </p:cNvPr>
          <p:cNvPicPr>
            <a:picLocks noGrp="1" noChangeAspect="1"/>
          </p:cNvPicPr>
          <p:nvPr>
            <p:ph idx="1"/>
          </p:nvPr>
        </p:nvPicPr>
        <p:blipFill>
          <a:blip r:embed="rId2"/>
          <a:srcRect l="25607" t="30738" b="20099"/>
          <a:stretch/>
        </p:blipFill>
        <p:spPr>
          <a:xfrm>
            <a:off x="534920" y="2121429"/>
            <a:ext cx="10704580" cy="3979333"/>
          </a:xfrm>
        </p:spPr>
      </p:pic>
    </p:spTree>
    <p:extLst>
      <p:ext uri="{BB962C8B-B14F-4D97-AF65-F5344CB8AC3E}">
        <p14:creationId xmlns:p14="http://schemas.microsoft.com/office/powerpoint/2010/main" val="1440037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86A11-6E6B-FC20-ACF0-C7AC171FAD0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E459696-0FA4-C58A-8C45-98F290C9642D}"/>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51FF3ACC-F6A1-033C-4486-7333908D2369}"/>
              </a:ext>
            </a:extLst>
          </p:cNvPr>
          <p:cNvPicPr>
            <a:picLocks noChangeAspect="1"/>
          </p:cNvPicPr>
          <p:nvPr/>
        </p:nvPicPr>
        <p:blipFill>
          <a:blip r:embed="rId2"/>
          <a:srcRect l="25179" t="35458" b="35406"/>
          <a:stretch/>
        </p:blipFill>
        <p:spPr>
          <a:xfrm>
            <a:off x="1534885" y="2188026"/>
            <a:ext cx="9122229" cy="1998132"/>
          </a:xfrm>
          <a:prstGeom prst="rect">
            <a:avLst/>
          </a:prstGeom>
        </p:spPr>
      </p:pic>
    </p:spTree>
    <p:extLst>
      <p:ext uri="{BB962C8B-B14F-4D97-AF65-F5344CB8AC3E}">
        <p14:creationId xmlns:p14="http://schemas.microsoft.com/office/powerpoint/2010/main" val="441967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BD3-3FC6-EF8B-E24F-6D1DEA7AF05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90F6819-D2C2-7167-7E10-79281F36CDB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D8F7595A-CDEC-D5EA-D869-B5A6696013A1}"/>
              </a:ext>
            </a:extLst>
          </p:cNvPr>
          <p:cNvPicPr>
            <a:picLocks noChangeAspect="1"/>
          </p:cNvPicPr>
          <p:nvPr/>
        </p:nvPicPr>
        <p:blipFill>
          <a:blip r:embed="rId2"/>
          <a:srcRect l="25714" t="27778" r="23929" b="7857"/>
          <a:stretch/>
        </p:blipFill>
        <p:spPr>
          <a:xfrm>
            <a:off x="2155372" y="494055"/>
            <a:ext cx="8164285" cy="5869889"/>
          </a:xfrm>
          <a:prstGeom prst="rect">
            <a:avLst/>
          </a:prstGeom>
        </p:spPr>
      </p:pic>
    </p:spTree>
    <p:extLst>
      <p:ext uri="{BB962C8B-B14F-4D97-AF65-F5344CB8AC3E}">
        <p14:creationId xmlns:p14="http://schemas.microsoft.com/office/powerpoint/2010/main" val="93713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53E5-358D-3B19-CEBC-F49541F7C27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D27F53B-3BFC-5A57-174B-4C64D32C09C0}"/>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AD7A874F-4BB1-0564-A4CA-B02923B5E3A9}"/>
              </a:ext>
            </a:extLst>
          </p:cNvPr>
          <p:cNvPicPr>
            <a:picLocks noChangeAspect="1"/>
          </p:cNvPicPr>
          <p:nvPr/>
        </p:nvPicPr>
        <p:blipFill>
          <a:blip r:embed="rId2"/>
          <a:srcRect l="25581" t="31429" b="11835"/>
          <a:stretch/>
        </p:blipFill>
        <p:spPr>
          <a:xfrm>
            <a:off x="789714" y="1102178"/>
            <a:ext cx="10851712" cy="4653644"/>
          </a:xfrm>
          <a:prstGeom prst="rect">
            <a:avLst/>
          </a:prstGeom>
        </p:spPr>
      </p:pic>
    </p:spTree>
    <p:extLst>
      <p:ext uri="{BB962C8B-B14F-4D97-AF65-F5344CB8AC3E}">
        <p14:creationId xmlns:p14="http://schemas.microsoft.com/office/powerpoint/2010/main" val="3181170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EA52-DA5F-EEEF-1043-DBA61A1FB763}"/>
              </a:ext>
            </a:extLst>
          </p:cNvPr>
          <p:cNvSpPr>
            <a:spLocks noGrp="1"/>
          </p:cNvSpPr>
          <p:nvPr>
            <p:ph type="title"/>
          </p:nvPr>
        </p:nvSpPr>
        <p:spPr/>
        <p:txBody>
          <a:bodyPr/>
          <a:lstStyle/>
          <a:p>
            <a:r>
              <a:rPr lang="en-GB" dirty="0"/>
              <a:t>RESIN CODE </a:t>
            </a:r>
            <a:r>
              <a:rPr lang="en-GB" dirty="0" err="1"/>
              <a:t>CLASSIFier</a:t>
            </a:r>
            <a:r>
              <a:rPr lang="en-GB" dirty="0"/>
              <a:t> model</a:t>
            </a:r>
          </a:p>
        </p:txBody>
      </p:sp>
      <p:pic>
        <p:nvPicPr>
          <p:cNvPr id="9" name="Content Placeholder 8">
            <a:extLst>
              <a:ext uri="{FF2B5EF4-FFF2-40B4-BE49-F238E27FC236}">
                <a16:creationId xmlns:a16="http://schemas.microsoft.com/office/drawing/2014/main" id="{6176411B-E73A-687F-35E5-94FF18F09983}"/>
              </a:ext>
            </a:extLst>
          </p:cNvPr>
          <p:cNvPicPr>
            <a:picLocks noGrp="1" noChangeAspect="1"/>
          </p:cNvPicPr>
          <p:nvPr>
            <p:ph idx="1"/>
          </p:nvPr>
        </p:nvPicPr>
        <p:blipFill>
          <a:blip r:embed="rId2"/>
          <a:srcRect t="20143" b="16909"/>
          <a:stretch/>
        </p:blipFill>
        <p:spPr>
          <a:xfrm>
            <a:off x="952500" y="2367642"/>
            <a:ext cx="10543068" cy="3733120"/>
          </a:xfrm>
        </p:spPr>
      </p:pic>
    </p:spTree>
    <p:extLst>
      <p:ext uri="{BB962C8B-B14F-4D97-AF65-F5344CB8AC3E}">
        <p14:creationId xmlns:p14="http://schemas.microsoft.com/office/powerpoint/2010/main" val="4213145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B2121-3747-90E6-B3F5-6A399348D1A1}"/>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0C3471D1-2A56-9877-C959-FA961A0F9CE9}"/>
              </a:ext>
            </a:extLst>
          </p:cNvPr>
          <p:cNvPicPr>
            <a:picLocks noGrp="1" noChangeAspect="1"/>
          </p:cNvPicPr>
          <p:nvPr>
            <p:ph idx="1"/>
          </p:nvPr>
        </p:nvPicPr>
        <p:blipFill>
          <a:blip r:embed="rId2"/>
          <a:srcRect l="11681" t="18045" r="42288" b="5578"/>
          <a:stretch/>
        </p:blipFill>
        <p:spPr>
          <a:xfrm>
            <a:off x="0" y="0"/>
            <a:ext cx="6536530" cy="6100762"/>
          </a:xfrm>
        </p:spPr>
      </p:pic>
      <p:pic>
        <p:nvPicPr>
          <p:cNvPr id="7" name="Picture 6">
            <a:extLst>
              <a:ext uri="{FF2B5EF4-FFF2-40B4-BE49-F238E27FC236}">
                <a16:creationId xmlns:a16="http://schemas.microsoft.com/office/drawing/2014/main" id="{15240337-955E-5093-AD75-AFB99898F0A5}"/>
              </a:ext>
            </a:extLst>
          </p:cNvPr>
          <p:cNvPicPr>
            <a:picLocks noChangeAspect="1"/>
          </p:cNvPicPr>
          <p:nvPr/>
        </p:nvPicPr>
        <p:blipFill>
          <a:blip r:embed="rId3"/>
          <a:srcRect l="13393" t="17382" r="46181" b="6904"/>
          <a:stretch/>
        </p:blipFill>
        <p:spPr>
          <a:xfrm>
            <a:off x="6536529" y="-1"/>
            <a:ext cx="5790937" cy="6100761"/>
          </a:xfrm>
          <a:prstGeom prst="rect">
            <a:avLst/>
          </a:prstGeom>
        </p:spPr>
      </p:pic>
    </p:spTree>
    <p:extLst>
      <p:ext uri="{BB962C8B-B14F-4D97-AF65-F5344CB8AC3E}">
        <p14:creationId xmlns:p14="http://schemas.microsoft.com/office/powerpoint/2010/main" val="2809683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F5DFF-1673-3CE3-0ED4-FC6DA1A8D532}"/>
              </a:ext>
            </a:extLst>
          </p:cNvPr>
          <p:cNvSpPr>
            <a:spLocks noGrp="1"/>
          </p:cNvSpPr>
          <p:nvPr>
            <p:ph type="title"/>
          </p:nvPr>
        </p:nvSpPr>
        <p:spPr/>
        <p:txBody>
          <a:bodyPr/>
          <a:lstStyle/>
          <a:p>
            <a:endParaRPr lang="en-GB"/>
          </a:p>
        </p:txBody>
      </p:sp>
      <p:pic>
        <p:nvPicPr>
          <p:cNvPr id="7" name="Content Placeholder 6">
            <a:extLst>
              <a:ext uri="{FF2B5EF4-FFF2-40B4-BE49-F238E27FC236}">
                <a16:creationId xmlns:a16="http://schemas.microsoft.com/office/drawing/2014/main" id="{AD9B76D5-CFDD-6B2E-989D-30263975B401}"/>
              </a:ext>
            </a:extLst>
          </p:cNvPr>
          <p:cNvPicPr>
            <a:picLocks noGrp="1" noChangeAspect="1"/>
          </p:cNvPicPr>
          <p:nvPr>
            <p:ph idx="1"/>
          </p:nvPr>
        </p:nvPicPr>
        <p:blipFill>
          <a:blip r:embed="rId2"/>
          <a:srcRect l="10063" t="10444" r="32471" b="6433"/>
          <a:stretch/>
        </p:blipFill>
        <p:spPr>
          <a:xfrm>
            <a:off x="6524269" y="406400"/>
            <a:ext cx="5782032" cy="6451600"/>
          </a:xfrm>
        </p:spPr>
      </p:pic>
      <p:pic>
        <p:nvPicPr>
          <p:cNvPr id="5" name="Picture 4">
            <a:extLst>
              <a:ext uri="{FF2B5EF4-FFF2-40B4-BE49-F238E27FC236}">
                <a16:creationId xmlns:a16="http://schemas.microsoft.com/office/drawing/2014/main" id="{F095075A-443E-7D3D-0EBC-0BCED5A9C9C0}"/>
              </a:ext>
            </a:extLst>
          </p:cNvPr>
          <p:cNvPicPr>
            <a:picLocks noChangeAspect="1"/>
          </p:cNvPicPr>
          <p:nvPr/>
        </p:nvPicPr>
        <p:blipFill>
          <a:blip r:embed="rId3"/>
          <a:srcRect l="11384" t="11041" r="43080" b="7382"/>
          <a:stretch/>
        </p:blipFill>
        <p:spPr>
          <a:xfrm>
            <a:off x="0" y="0"/>
            <a:ext cx="6858000" cy="6910946"/>
          </a:xfrm>
          <a:prstGeom prst="rect">
            <a:avLst/>
          </a:prstGeom>
        </p:spPr>
      </p:pic>
    </p:spTree>
    <p:extLst>
      <p:ext uri="{BB962C8B-B14F-4D97-AF65-F5344CB8AC3E}">
        <p14:creationId xmlns:p14="http://schemas.microsoft.com/office/powerpoint/2010/main" val="818620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9712A-9289-C242-5A26-E642AB3381E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41C9166-E67D-477A-E7D5-B10BA6F09D7C}"/>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1C0A2387-34CF-05F8-BB16-337FD9970232}"/>
              </a:ext>
            </a:extLst>
          </p:cNvPr>
          <p:cNvPicPr>
            <a:picLocks noChangeAspect="1"/>
          </p:cNvPicPr>
          <p:nvPr/>
        </p:nvPicPr>
        <p:blipFill>
          <a:blip r:embed="rId2"/>
          <a:srcRect l="7812" t="16905" r="46965" b="24047"/>
          <a:stretch/>
        </p:blipFill>
        <p:spPr>
          <a:xfrm>
            <a:off x="0" y="46228"/>
            <a:ext cx="9274629" cy="6811772"/>
          </a:xfrm>
          <a:prstGeom prst="rect">
            <a:avLst/>
          </a:prstGeom>
        </p:spPr>
      </p:pic>
    </p:spTree>
    <p:extLst>
      <p:ext uri="{BB962C8B-B14F-4D97-AF65-F5344CB8AC3E}">
        <p14:creationId xmlns:p14="http://schemas.microsoft.com/office/powerpoint/2010/main" val="147611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54FF-98C6-10A2-D918-1BDF4EA84979}"/>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1EFBCA26-E2CB-1D6E-375F-1581503FEFF1}"/>
              </a:ext>
            </a:extLst>
          </p:cNvPr>
          <p:cNvPicPr>
            <a:picLocks noGrp="1" noChangeAspect="1"/>
          </p:cNvPicPr>
          <p:nvPr>
            <p:ph idx="1"/>
          </p:nvPr>
        </p:nvPicPr>
        <p:blipFill>
          <a:blip r:embed="rId2"/>
          <a:srcRect l="9792" t="48260" r="46538" b="13971"/>
          <a:stretch/>
        </p:blipFill>
        <p:spPr>
          <a:xfrm>
            <a:off x="0" y="0"/>
            <a:ext cx="12192000" cy="5931241"/>
          </a:xfrm>
        </p:spPr>
      </p:pic>
    </p:spTree>
    <p:extLst>
      <p:ext uri="{BB962C8B-B14F-4D97-AF65-F5344CB8AC3E}">
        <p14:creationId xmlns:p14="http://schemas.microsoft.com/office/powerpoint/2010/main" val="1986651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34D3-E569-2753-3BDC-001589A9CDD5}"/>
              </a:ext>
            </a:extLst>
          </p:cNvPr>
          <p:cNvSpPr>
            <a:spLocks noGrp="1"/>
          </p:cNvSpPr>
          <p:nvPr>
            <p:ph type="title"/>
          </p:nvPr>
        </p:nvSpPr>
        <p:spPr/>
        <p:txBody>
          <a:bodyPr/>
          <a:lstStyle/>
          <a:p>
            <a:r>
              <a:rPr lang="en-GB" dirty="0"/>
              <a:t>REAL TIME ANALYSIS</a:t>
            </a:r>
          </a:p>
        </p:txBody>
      </p:sp>
      <p:pic>
        <p:nvPicPr>
          <p:cNvPr id="9" name="Content Placeholder 8">
            <a:extLst>
              <a:ext uri="{FF2B5EF4-FFF2-40B4-BE49-F238E27FC236}">
                <a16:creationId xmlns:a16="http://schemas.microsoft.com/office/drawing/2014/main" id="{DCE2CC64-3AE6-6762-9665-778C39587ADA}"/>
              </a:ext>
            </a:extLst>
          </p:cNvPr>
          <p:cNvPicPr>
            <a:picLocks noGrp="1" noChangeAspect="1"/>
          </p:cNvPicPr>
          <p:nvPr>
            <p:ph idx="1"/>
          </p:nvPr>
        </p:nvPicPr>
        <p:blipFill>
          <a:blip r:embed="rId2"/>
          <a:stretch>
            <a:fillRect/>
          </a:stretch>
        </p:blipFill>
        <p:spPr>
          <a:xfrm>
            <a:off x="0" y="2073729"/>
            <a:ext cx="4912956" cy="3890963"/>
          </a:xfrm>
        </p:spPr>
      </p:pic>
      <p:pic>
        <p:nvPicPr>
          <p:cNvPr id="11" name="Picture 10" descr="A close up of a black object&#10;&#10;Description automatically generated">
            <a:extLst>
              <a:ext uri="{FF2B5EF4-FFF2-40B4-BE49-F238E27FC236}">
                <a16:creationId xmlns:a16="http://schemas.microsoft.com/office/drawing/2014/main" id="{2206BCB0-9F74-D0F8-02A5-CDADAD1CE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199" y="1723471"/>
            <a:ext cx="5739348" cy="4591478"/>
          </a:xfrm>
          <a:prstGeom prst="rect">
            <a:avLst/>
          </a:prstGeom>
        </p:spPr>
      </p:pic>
    </p:spTree>
    <p:extLst>
      <p:ext uri="{BB962C8B-B14F-4D97-AF65-F5344CB8AC3E}">
        <p14:creationId xmlns:p14="http://schemas.microsoft.com/office/powerpoint/2010/main" val="3498499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DAD064D-86F0-42ED-B520-996898579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9DFBA9-4BBF-924A-F390-971DA3850F8D}"/>
              </a:ext>
            </a:extLst>
          </p:cNvPr>
          <p:cNvSpPr>
            <a:spLocks noGrp="1"/>
          </p:cNvSpPr>
          <p:nvPr>
            <p:ph type="title"/>
          </p:nvPr>
        </p:nvSpPr>
        <p:spPr>
          <a:xfrm>
            <a:off x="952500" y="812042"/>
            <a:ext cx="4264686" cy="1092958"/>
          </a:xfrm>
        </p:spPr>
        <p:txBody>
          <a:bodyPr>
            <a:normAutofit/>
          </a:bodyPr>
          <a:lstStyle/>
          <a:p>
            <a:r>
              <a:rPr lang="en-GB" dirty="0"/>
              <a:t>Conclusion</a:t>
            </a:r>
          </a:p>
        </p:txBody>
      </p:sp>
      <p:sp>
        <p:nvSpPr>
          <p:cNvPr id="11" name="Rectangle 10">
            <a:extLst>
              <a:ext uri="{FF2B5EF4-FFF2-40B4-BE49-F238E27FC236}">
                <a16:creationId xmlns:a16="http://schemas.microsoft.com/office/drawing/2014/main" id="{17A4D85E-F98A-F670-16C3-7B2B0DA3A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17781"/>
            <a:ext cx="6096000" cy="3640219"/>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4AEB0E9-9943-754F-0960-91D30613DE04}"/>
              </a:ext>
            </a:extLst>
          </p:cNvPr>
          <p:cNvSpPr>
            <a:spLocks noGrp="1"/>
          </p:cNvSpPr>
          <p:nvPr>
            <p:ph idx="1"/>
          </p:nvPr>
        </p:nvSpPr>
        <p:spPr>
          <a:xfrm>
            <a:off x="952500" y="2285997"/>
            <a:ext cx="4191000" cy="3890965"/>
          </a:xfrm>
        </p:spPr>
        <p:txBody>
          <a:bodyPr>
            <a:normAutofit/>
          </a:bodyPr>
          <a:lstStyle/>
          <a:p>
            <a:pPr>
              <a:lnSpc>
                <a:spcPct val="110000"/>
              </a:lnSpc>
            </a:pPr>
            <a:r>
              <a:rPr lang="en-GB" sz="1500" dirty="0"/>
              <a:t>AN ML model has been developed to identify the grade of plastic. Even though, the recycling costs are determined by various other factors too, resin codes and the grade of plastics is a major factor in determining the costs.</a:t>
            </a:r>
          </a:p>
          <a:p>
            <a:pPr>
              <a:lnSpc>
                <a:spcPct val="110000"/>
              </a:lnSpc>
            </a:pPr>
            <a:r>
              <a:rPr lang="en-GB" sz="1500" dirty="0"/>
              <a:t>Government policies have already been initiated to hold the companies which produce plastic products responsible for collection of their respective plastic wastes.  The future scope of the project lies in utilizing the ML model for correct collection and segregation of plastic wastes and encouraging  users through incentives to properly dispose off the plastic wastes.</a:t>
            </a:r>
          </a:p>
        </p:txBody>
      </p:sp>
      <p:pic>
        <p:nvPicPr>
          <p:cNvPr id="5" name="Picture 4" descr="Colorful plastic bottle caps">
            <a:extLst>
              <a:ext uri="{FF2B5EF4-FFF2-40B4-BE49-F238E27FC236}">
                <a16:creationId xmlns:a16="http://schemas.microsoft.com/office/drawing/2014/main" id="{9C9BB345-3560-91B5-5D4F-7F5CB2C85B04}"/>
              </a:ext>
            </a:extLst>
          </p:cNvPr>
          <p:cNvPicPr>
            <a:picLocks noChangeAspect="1"/>
          </p:cNvPicPr>
          <p:nvPr/>
        </p:nvPicPr>
        <p:blipFill>
          <a:blip r:embed="rId2"/>
          <a:srcRect l="12384" r="28282" b="-1"/>
          <a:stretch/>
        </p:blipFill>
        <p:spPr>
          <a:xfrm>
            <a:off x="6096000" y="10"/>
            <a:ext cx="6095999" cy="6857990"/>
          </a:xfrm>
          <a:prstGeom prst="rect">
            <a:avLst/>
          </a:prstGeom>
        </p:spPr>
      </p:pic>
    </p:spTree>
    <p:extLst>
      <p:ext uri="{BB962C8B-B14F-4D97-AF65-F5344CB8AC3E}">
        <p14:creationId xmlns:p14="http://schemas.microsoft.com/office/powerpoint/2010/main" val="146409011"/>
      </p:ext>
    </p:extLst>
  </p:cSld>
  <p:clrMapOvr>
    <a:masterClrMapping/>
  </p:clrMapOvr>
</p:sld>
</file>

<file path=ppt/theme/theme1.xml><?xml version="1.0" encoding="utf-8"?>
<a:theme xmlns:a="http://schemas.openxmlformats.org/drawingml/2006/main" name="AfterglowVTI">
  <a:themeElements>
    <a:clrScheme name="AnalogousFromDarkSeedLeftStep">
      <a:dk1>
        <a:srgbClr val="000000"/>
      </a:dk1>
      <a:lt1>
        <a:srgbClr val="FFFFFF"/>
      </a:lt1>
      <a:dk2>
        <a:srgbClr val="1B2830"/>
      </a:dk2>
      <a:lt2>
        <a:srgbClr val="F1F3F0"/>
      </a:lt2>
      <a:accent1>
        <a:srgbClr val="A629E7"/>
      </a:accent1>
      <a:accent2>
        <a:srgbClr val="592FD9"/>
      </a:accent2>
      <a:accent3>
        <a:srgbClr val="294AE7"/>
      </a:accent3>
      <a:accent4>
        <a:srgbClr val="1787D5"/>
      </a:accent4>
      <a:accent5>
        <a:srgbClr val="22BFBE"/>
      </a:accent5>
      <a:accent6>
        <a:srgbClr val="16C67B"/>
      </a:accent6>
      <a:hlink>
        <a:srgbClr val="3897A9"/>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docProps/app.xml><?xml version="1.0" encoding="utf-8"?>
<Properties xmlns="http://schemas.openxmlformats.org/officeDocument/2006/extended-properties" xmlns:vt="http://schemas.openxmlformats.org/officeDocument/2006/docPropsVTypes">
  <TotalTime>43</TotalTime>
  <Words>358</Words>
  <Application>Microsoft Office PowerPoint</Application>
  <PresentationFormat>Widescreen</PresentationFormat>
  <Paragraphs>25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Trade Gothic Next Cond</vt:lpstr>
      <vt:lpstr>Trade Gothic Next Light</vt:lpstr>
      <vt:lpstr>AfterglowVTI</vt:lpstr>
      <vt:lpstr>Incentive based PlasTIc Waste segregation</vt:lpstr>
      <vt:lpstr>Introduction</vt:lpstr>
      <vt:lpstr>solution</vt:lpstr>
      <vt:lpstr>Resin code classification</vt:lpstr>
      <vt:lpstr>Machine learning model using CNN</vt:lpstr>
      <vt:lpstr>MNIST Model</vt:lpstr>
      <vt:lpstr>PowerPoint Presentation</vt:lpstr>
      <vt:lpstr>PowerPoint Presentation</vt:lpstr>
      <vt:lpstr>PowerPoint Presentation</vt:lpstr>
      <vt:lpstr>RESIN CODE CLASSIFier model</vt:lpstr>
      <vt:lpstr>PowerPoint Presentation</vt:lpstr>
      <vt:lpstr>PowerPoint Presentation</vt:lpstr>
      <vt:lpstr>PowerPoint Presentation</vt:lpstr>
      <vt:lpstr>PowerPoint Presentation</vt:lpstr>
      <vt:lpstr>REAL TIME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Ajani</dc:creator>
  <cp:lastModifiedBy>Atul Ajani</cp:lastModifiedBy>
  <cp:revision>3</cp:revision>
  <dcterms:created xsi:type="dcterms:W3CDTF">2024-11-23T04:57:33Z</dcterms:created>
  <dcterms:modified xsi:type="dcterms:W3CDTF">2024-11-23T05:43:28Z</dcterms:modified>
</cp:coreProperties>
</file>